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83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3203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5486400" cy="5486400"/>
          </a:xfrm>
          <a:prstGeom prst="ellipse">
            <a:avLst/>
          </a:prstGeom>
          <a:solidFill>
            <a:srgbClr val="0F1A2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5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1201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NETWORK INTRUSION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Intelligent-NIDS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Network Intrusion Detection &amp; SOC Response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4937760" cy="0"/>
          </a:xfrm>
          <a:prstGeom prst="line">
            <a:avLst/>
          </a:prstGeom>
          <a:noFill/>
          <a:ln w="12700">
            <a:solidFill>
              <a:srgbClr val="2433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489204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/>
        </p:spPr>
      </p:sp>
      <p:sp>
        <p:nvSpPr>
          <p:cNvPr id="11" name="Shape 8"/>
          <p:cNvSpPr/>
          <p:nvPr/>
        </p:nvSpPr>
        <p:spPr>
          <a:xfrm>
            <a:off x="1609344" y="5001768"/>
            <a:ext cx="548640" cy="5486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12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788" y="512521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56052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072384" y="489204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3858768" y="5001768"/>
            <a:ext cx="548640" cy="5486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16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2212" y="512521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18104" y="56052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321808" y="489204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/>
        </p:spPr>
      </p:sp>
      <p:sp>
        <p:nvSpPr>
          <p:cNvPr id="19" name="Shape 14"/>
          <p:cNvSpPr/>
          <p:nvPr/>
        </p:nvSpPr>
        <p:spPr>
          <a:xfrm>
            <a:off x="6108192" y="5001768"/>
            <a:ext cx="548640" cy="5486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20" name="Image 3" descr="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636" y="5125212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67528" y="56052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RAG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571232" y="489204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/>
        </p:spPr>
      </p:sp>
      <p:sp>
        <p:nvSpPr>
          <p:cNvPr id="23" name="Shape 17"/>
          <p:cNvSpPr/>
          <p:nvPr/>
        </p:nvSpPr>
        <p:spPr>
          <a:xfrm>
            <a:off x="8357616" y="5001768"/>
            <a:ext cx="548640" cy="5486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24" name="Image 4" descr="icons/mes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5125212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16952" y="56052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820656" y="4892040"/>
            <a:ext cx="2121408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/>
        </p:spPr>
      </p:sp>
      <p:sp>
        <p:nvSpPr>
          <p:cNvPr id="27" name="Shape 20"/>
          <p:cNvSpPr/>
          <p:nvPr/>
        </p:nvSpPr>
        <p:spPr>
          <a:xfrm>
            <a:off x="10607040" y="5001768"/>
            <a:ext cx="548640" cy="5486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28" name="Image 5" descr="icons/moni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0484" y="5125212"/>
            <a:ext cx="301752" cy="3017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66376" y="56052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Teams Are Overwhelmed by Blind Alerts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intrusion detection stops at classification — analysts are left to fill in the gaps manually, under time pressure.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21C2E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788920"/>
            <a:ext cx="822960" cy="822960"/>
          </a:xfrm>
          <a:prstGeom prst="ellipse">
            <a:avLst/>
          </a:prstGeom>
          <a:solidFill>
            <a:srgbClr val="241B24"/>
          </a:solidFill>
          <a:ln/>
        </p:spPr>
      </p:sp>
      <p:pic>
        <p:nvPicPr>
          <p:cNvPr id="7" name="Image 0" descr="icons/eye_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9946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Alerts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4297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with no explanation of which network behavior triggered them.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0" y="25146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11" name="Shape 8"/>
          <p:cNvSpPr/>
          <p:nvPr/>
        </p:nvSpPr>
        <p:spPr>
          <a:xfrm>
            <a:off x="4846320" y="2788920"/>
            <a:ext cx="822960" cy="822960"/>
          </a:xfrm>
          <a:prstGeom prst="ellipse">
            <a:avLst/>
          </a:prstGeom>
          <a:solidFill>
            <a:srgbClr val="241B24"/>
          </a:solidFill>
          <a:ln/>
        </p:spPr>
      </p:sp>
      <p:pic>
        <p:nvPicPr>
          <p:cNvPr id="12" name="Image 1" descr="icons/help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29946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Threat Context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892040" y="4297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arrive without linked intelligence — IoCs, MITRE mapping, or mitigation guidance.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25146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21C2E"/>
          </a:solidFill>
          <a:ln/>
        </p:spPr>
      </p:sp>
      <p:sp>
        <p:nvSpPr>
          <p:cNvPr id="16" name="Shape 12"/>
          <p:cNvSpPr/>
          <p:nvPr/>
        </p:nvSpPr>
        <p:spPr>
          <a:xfrm>
            <a:off x="8595360" y="2788920"/>
            <a:ext cx="822960" cy="822960"/>
          </a:xfrm>
          <a:prstGeom prst="ellipse">
            <a:avLst/>
          </a:prstGeom>
          <a:solidFill>
            <a:srgbClr val="241B24"/>
          </a:solidFill>
          <a:ln/>
        </p:spPr>
      </p:sp>
      <p:pic>
        <p:nvPicPr>
          <p:cNvPr id="17" name="Image 2" descr="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29946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SOC Reporting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641080" y="4297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write incident reports by hand, slowing response during active threats.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Detect, Explain, Retrieve,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 work together end-to-end inside a single interactive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2121408" cy="3429000"/>
          </a:xfrm>
          <a:prstGeom prst="roundRect">
            <a:avLst>
              <a:gd name="adj" fmla="val 3448"/>
            </a:avLst>
          </a:prstGeom>
          <a:solidFill>
            <a:srgbClr val="121C2E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2738628"/>
            <a:ext cx="777240" cy="7772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7" name="Image 0" descr="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582" y="2925166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7033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87552" y="416052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network traffic into 8 attack categories.</a:t>
            </a:r>
            <a:endParaRPr lang="en-US" sz="1050" dirty="0"/>
          </a:p>
        </p:txBody>
      </p:sp>
      <p:pic>
        <p:nvPicPr>
          <p:cNvPr id="10" name="Image 1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940" y="4091940"/>
            <a:ext cx="118872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072384" y="2468880"/>
            <a:ext cx="2121408" cy="3429000"/>
          </a:xfrm>
          <a:prstGeom prst="roundRect">
            <a:avLst>
              <a:gd name="adj" fmla="val 3448"/>
            </a:avLst>
          </a:prstGeom>
          <a:solidFill>
            <a:srgbClr val="121C2E"/>
          </a:solidFill>
          <a:ln/>
        </p:spPr>
      </p:sp>
      <p:sp>
        <p:nvSpPr>
          <p:cNvPr id="12" name="Shape 8"/>
          <p:cNvSpPr/>
          <p:nvPr/>
        </p:nvSpPr>
        <p:spPr>
          <a:xfrm>
            <a:off x="3744468" y="2738628"/>
            <a:ext cx="777240" cy="7772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13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006" y="2925166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09544" y="37033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236976" y="416052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which features drove each prediction.</a:t>
            </a:r>
            <a:endParaRPr lang="en-US" sz="1050" dirty="0"/>
          </a:p>
        </p:txBody>
      </p:sp>
      <p:pic>
        <p:nvPicPr>
          <p:cNvPr id="16" name="Image 3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364" y="4091940"/>
            <a:ext cx="118872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321808" y="2468880"/>
            <a:ext cx="2121408" cy="3429000"/>
          </a:xfrm>
          <a:prstGeom prst="roundRect">
            <a:avLst>
              <a:gd name="adj" fmla="val 3448"/>
            </a:avLst>
          </a:prstGeom>
          <a:solidFill>
            <a:srgbClr val="121C2E"/>
          </a:solidFill>
          <a:ln/>
        </p:spPr>
      </p:sp>
      <p:sp>
        <p:nvSpPr>
          <p:cNvPr id="18" name="Shape 12"/>
          <p:cNvSpPr/>
          <p:nvPr/>
        </p:nvSpPr>
        <p:spPr>
          <a:xfrm>
            <a:off x="5993892" y="2738628"/>
            <a:ext cx="777240" cy="7772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19" name="Image 4" descr="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0430" y="2925166"/>
            <a:ext cx="404165" cy="4041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58968" y="37033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+ BGE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5486400" y="416052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cybersecurity knowledge for the predicted attack.</a:t>
            </a:r>
            <a:endParaRPr lang="en-US" sz="1050" dirty="0"/>
          </a:p>
        </p:txBody>
      </p:sp>
      <p:pic>
        <p:nvPicPr>
          <p:cNvPr id="22" name="Image 5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788" y="4091940"/>
            <a:ext cx="118872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571232" y="2468880"/>
            <a:ext cx="2121408" cy="3429000"/>
          </a:xfrm>
          <a:prstGeom prst="roundRect">
            <a:avLst>
              <a:gd name="adj" fmla="val 3448"/>
            </a:avLst>
          </a:prstGeom>
          <a:solidFill>
            <a:srgbClr val="15263A"/>
          </a:solidFill>
          <a:ln/>
        </p:spPr>
      </p:sp>
      <p:sp>
        <p:nvSpPr>
          <p:cNvPr id="24" name="Shape 16"/>
          <p:cNvSpPr/>
          <p:nvPr/>
        </p:nvSpPr>
        <p:spPr>
          <a:xfrm>
            <a:off x="8243316" y="2738628"/>
            <a:ext cx="777240" cy="7772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25" name="Image 6" descr="icons/mes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854" y="2925166"/>
            <a:ext cx="404165" cy="40416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708392" y="37033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450" dirty="0"/>
          </a:p>
        </p:txBody>
      </p:sp>
      <p:sp>
        <p:nvSpPr>
          <p:cNvPr id="27" name="Text 18"/>
          <p:cNvSpPr/>
          <p:nvPr/>
        </p:nvSpPr>
        <p:spPr>
          <a:xfrm>
            <a:off x="7735824" y="416052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an evidence-based SOC incident report.</a:t>
            </a:r>
            <a:endParaRPr lang="en-US" sz="1050" dirty="0"/>
          </a:p>
        </p:txBody>
      </p:sp>
      <p:pic>
        <p:nvPicPr>
          <p:cNvPr id="28" name="Image 7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212" y="4091940"/>
            <a:ext cx="118872" cy="18288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820656" y="2468880"/>
            <a:ext cx="2121408" cy="3429000"/>
          </a:xfrm>
          <a:prstGeom prst="roundRect">
            <a:avLst>
              <a:gd name="adj" fmla="val 3448"/>
            </a:avLst>
          </a:prstGeom>
          <a:solidFill>
            <a:srgbClr val="121C2E"/>
          </a:solidFill>
          <a:ln/>
        </p:spPr>
      </p:sp>
      <p:sp>
        <p:nvSpPr>
          <p:cNvPr id="30" name="Shape 20"/>
          <p:cNvSpPr/>
          <p:nvPr/>
        </p:nvSpPr>
        <p:spPr>
          <a:xfrm>
            <a:off x="10492740" y="2738628"/>
            <a:ext cx="777240" cy="77724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31" name="Image 8" descr="icons/moni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9278" y="2925166"/>
            <a:ext cx="404165" cy="40416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957816" y="370332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33" name="Text 22"/>
          <p:cNvSpPr/>
          <p:nvPr/>
        </p:nvSpPr>
        <p:spPr>
          <a:xfrm>
            <a:off x="9985248" y="416052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it all in an interactive SOC dashboard.</a:t>
            </a:r>
            <a:endParaRPr lang="en-US" sz="1050" dirty="0"/>
          </a:p>
        </p:txBody>
      </p:sp>
      <p:sp>
        <p:nvSpPr>
          <p:cNvPr id="34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Network Flow to SOC Incident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2505456"/>
            <a:ext cx="566928" cy="566928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6" name="Image 0" descr="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831" y="263301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1363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8368" y="346557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live sample</a:t>
            </a:r>
            <a:endParaRPr lang="en-US" sz="850" dirty="0"/>
          </a:p>
        </p:txBody>
      </p:sp>
      <p:pic>
        <p:nvPicPr>
          <p:cNvPr id="9" name="Image 1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973" y="2578608"/>
            <a:ext cx="146304" cy="1463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926298" y="233172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</p:sp>
      <p:sp>
        <p:nvSpPr>
          <p:cNvPr id="11" name="Shape 7"/>
          <p:cNvSpPr/>
          <p:nvPr/>
        </p:nvSpPr>
        <p:spPr>
          <a:xfrm>
            <a:off x="2228050" y="2505456"/>
            <a:ext cx="566928" cy="566928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12" name="Image 2" descr="icons/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5609" y="2633015"/>
            <a:ext cx="311810" cy="3118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53146" y="31363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853146" y="346557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&amp; scaled</a:t>
            </a:r>
            <a:endParaRPr lang="en-US" sz="850" dirty="0"/>
          </a:p>
        </p:txBody>
      </p:sp>
      <p:pic>
        <p:nvPicPr>
          <p:cNvPr id="15" name="Image 3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751" y="2578608"/>
            <a:ext cx="146304" cy="14630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121076" y="233172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</p:sp>
      <p:sp>
        <p:nvSpPr>
          <p:cNvPr id="17" name="Shape 11"/>
          <p:cNvSpPr/>
          <p:nvPr/>
        </p:nvSpPr>
        <p:spPr>
          <a:xfrm>
            <a:off x="3422828" y="2505456"/>
            <a:ext cx="566928" cy="566928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18" name="Image 4" descr="icons/sli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387" y="2633015"/>
            <a:ext cx="311810" cy="31181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047924" y="31363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3047924" y="346557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input</a:t>
            </a:r>
            <a:endParaRPr lang="en-US" sz="850" dirty="0"/>
          </a:p>
        </p:txBody>
      </p:sp>
      <p:pic>
        <p:nvPicPr>
          <p:cNvPr id="21" name="Image 5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529" y="2578608"/>
            <a:ext cx="146304" cy="14630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315854" y="233172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15263A"/>
          </a:solidFill>
          <a:ln/>
        </p:spPr>
      </p:sp>
      <p:sp>
        <p:nvSpPr>
          <p:cNvPr id="23" name="Shape 15"/>
          <p:cNvSpPr/>
          <p:nvPr/>
        </p:nvSpPr>
        <p:spPr>
          <a:xfrm>
            <a:off x="4617606" y="2505456"/>
            <a:ext cx="566928" cy="566928"/>
          </a:xfrm>
          <a:prstGeom prst="ellipse">
            <a:avLst/>
          </a:prstGeom>
          <a:solidFill>
            <a:srgbClr val="1C3350"/>
          </a:solidFill>
          <a:ln/>
        </p:spPr>
      </p:sp>
      <p:pic>
        <p:nvPicPr>
          <p:cNvPr id="24" name="Image 6" descr="icons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165" y="2633015"/>
            <a:ext cx="311810" cy="31181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242702" y="31363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4242702" y="346557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trees, 8 classes</a:t>
            </a:r>
            <a:endParaRPr lang="en-US" sz="850" dirty="0"/>
          </a:p>
        </p:txBody>
      </p:sp>
      <p:pic>
        <p:nvPicPr>
          <p:cNvPr id="27" name="Image 7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307" y="2578608"/>
            <a:ext cx="146304" cy="14630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5510632" y="233172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</p:sp>
      <p:sp>
        <p:nvSpPr>
          <p:cNvPr id="29" name="Shape 19"/>
          <p:cNvSpPr/>
          <p:nvPr/>
        </p:nvSpPr>
        <p:spPr>
          <a:xfrm>
            <a:off x="5812384" y="2505456"/>
            <a:ext cx="566928" cy="566928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30" name="Image 8" descr="icons/targ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942" y="2633015"/>
            <a:ext cx="311810" cy="31181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437480" y="31363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32" name="Text 21"/>
          <p:cNvSpPr/>
          <p:nvPr/>
        </p:nvSpPr>
        <p:spPr>
          <a:xfrm>
            <a:off x="5437480" y="346557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+ confidence</a:t>
            </a:r>
            <a:endParaRPr lang="en-US" sz="850" dirty="0"/>
          </a:p>
        </p:txBody>
      </p:sp>
      <p:pic>
        <p:nvPicPr>
          <p:cNvPr id="33" name="Image 9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085" y="2578608"/>
            <a:ext cx="146304" cy="146304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705410" y="233172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</p:sp>
      <p:sp>
        <p:nvSpPr>
          <p:cNvPr id="35" name="Shape 23"/>
          <p:cNvSpPr/>
          <p:nvPr/>
        </p:nvSpPr>
        <p:spPr>
          <a:xfrm>
            <a:off x="7007162" y="2505456"/>
            <a:ext cx="566928" cy="566928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36" name="Image 10" descr="icons/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4720" y="2633015"/>
            <a:ext cx="311810" cy="31181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632258" y="31363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50" dirty="0"/>
          </a:p>
        </p:txBody>
      </p:sp>
      <p:sp>
        <p:nvSpPr>
          <p:cNvPr id="38" name="Text 25"/>
          <p:cNvSpPr/>
          <p:nvPr/>
        </p:nvSpPr>
        <p:spPr>
          <a:xfrm>
            <a:off x="6632258" y="346557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decision</a:t>
            </a:r>
            <a:endParaRPr lang="en-US" sz="850" dirty="0"/>
          </a:p>
        </p:txBody>
      </p:sp>
      <p:pic>
        <p:nvPicPr>
          <p:cNvPr id="39" name="Image 11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862" y="2578608"/>
            <a:ext cx="146304" cy="146304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7900187" y="233172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</p:sp>
      <p:sp>
        <p:nvSpPr>
          <p:cNvPr id="41" name="Shape 27"/>
          <p:cNvSpPr/>
          <p:nvPr/>
        </p:nvSpPr>
        <p:spPr>
          <a:xfrm>
            <a:off x="8201939" y="2505456"/>
            <a:ext cx="566928" cy="566928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42" name="Image 12" descr="icons/data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9498" y="2633015"/>
            <a:ext cx="311810" cy="31181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7827035" y="31363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RAG</a:t>
            </a:r>
            <a:endParaRPr lang="en-US" sz="1050" dirty="0"/>
          </a:p>
        </p:txBody>
      </p:sp>
      <p:sp>
        <p:nvSpPr>
          <p:cNvPr id="44" name="Text 29"/>
          <p:cNvSpPr/>
          <p:nvPr/>
        </p:nvSpPr>
        <p:spPr>
          <a:xfrm>
            <a:off x="7827035" y="346557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850" dirty="0"/>
          </a:p>
        </p:txBody>
      </p:sp>
      <p:pic>
        <p:nvPicPr>
          <p:cNvPr id="45" name="Image 13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9640" y="2578608"/>
            <a:ext cx="146304" cy="146304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9094965" y="233172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</p:sp>
      <p:sp>
        <p:nvSpPr>
          <p:cNvPr id="47" name="Shape 31"/>
          <p:cNvSpPr/>
          <p:nvPr/>
        </p:nvSpPr>
        <p:spPr>
          <a:xfrm>
            <a:off x="9396717" y="2505456"/>
            <a:ext cx="566928" cy="566928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48" name="Image 14" descr="icons/mess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4276" y="2633015"/>
            <a:ext cx="311810" cy="311810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9021813" y="31363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050" dirty="0"/>
          </a:p>
        </p:txBody>
      </p:sp>
      <p:sp>
        <p:nvSpPr>
          <p:cNvPr id="50" name="Text 33"/>
          <p:cNvSpPr/>
          <p:nvPr/>
        </p:nvSpPr>
        <p:spPr>
          <a:xfrm>
            <a:off x="9021813" y="346557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evidence</a:t>
            </a:r>
            <a:endParaRPr lang="en-US" sz="850" dirty="0"/>
          </a:p>
        </p:txBody>
      </p:sp>
      <p:pic>
        <p:nvPicPr>
          <p:cNvPr id="51" name="Image 15" descr="icons/arro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418" y="2578608"/>
            <a:ext cx="146304" cy="146304"/>
          </a:xfrm>
          <a:prstGeom prst="rect">
            <a:avLst/>
          </a:prstGeom>
        </p:spPr>
      </p:pic>
      <p:sp>
        <p:nvSpPr>
          <p:cNvPr id="52" name="Shape 34"/>
          <p:cNvSpPr/>
          <p:nvPr/>
        </p:nvSpPr>
        <p:spPr>
          <a:xfrm>
            <a:off x="10289743" y="233172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</p:sp>
      <p:sp>
        <p:nvSpPr>
          <p:cNvPr id="53" name="Shape 35"/>
          <p:cNvSpPr/>
          <p:nvPr/>
        </p:nvSpPr>
        <p:spPr>
          <a:xfrm>
            <a:off x="10591495" y="2505456"/>
            <a:ext cx="566928" cy="566928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54" name="Image 16" descr="icons/file_tex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19054" y="2633015"/>
            <a:ext cx="311810" cy="31181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10216591" y="313639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Report</a:t>
            </a:r>
            <a:endParaRPr lang="en-US" sz="1050" dirty="0"/>
          </a:p>
        </p:txBody>
      </p:sp>
      <p:sp>
        <p:nvSpPr>
          <p:cNvPr id="56" name="Text 37"/>
          <p:cNvSpPr/>
          <p:nvPr/>
        </p:nvSpPr>
        <p:spPr>
          <a:xfrm>
            <a:off x="10216591" y="346557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850" dirty="0"/>
          </a:p>
        </p:txBody>
      </p:sp>
      <p:sp>
        <p:nvSpPr>
          <p:cNvPr id="57" name="Shape 38"/>
          <p:cNvSpPr/>
          <p:nvPr/>
        </p:nvSpPr>
        <p:spPr>
          <a:xfrm>
            <a:off x="1188720" y="451713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8" name="Text 39"/>
          <p:cNvSpPr/>
          <p:nvPr/>
        </p:nvSpPr>
        <p:spPr>
          <a:xfrm>
            <a:off x="1444752" y="44348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the ML decision</a:t>
            </a:r>
            <a:endParaRPr lang="en-US" sz="1200" dirty="0"/>
          </a:p>
        </p:txBody>
      </p:sp>
      <p:sp>
        <p:nvSpPr>
          <p:cNvPr id="59" name="Shape 40"/>
          <p:cNvSpPr/>
          <p:nvPr/>
        </p:nvSpPr>
        <p:spPr>
          <a:xfrm>
            <a:off x="4846320" y="451713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0" name="Text 41"/>
          <p:cNvSpPr/>
          <p:nvPr/>
        </p:nvSpPr>
        <p:spPr>
          <a:xfrm>
            <a:off x="5102352" y="44348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supplies cybersecurity context</a:t>
            </a:r>
            <a:endParaRPr lang="en-US" sz="1200" dirty="0"/>
          </a:p>
        </p:txBody>
      </p:sp>
      <p:sp>
        <p:nvSpPr>
          <p:cNvPr id="61" name="Shape 42"/>
          <p:cNvSpPr/>
          <p:nvPr/>
        </p:nvSpPr>
        <p:spPr>
          <a:xfrm>
            <a:off x="8503920" y="4517136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2" name="Text 43"/>
          <p:cNvSpPr/>
          <p:nvPr/>
        </p:nvSpPr>
        <p:spPr>
          <a:xfrm>
            <a:off x="8759952" y="443484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fuses evidence into the report</a:t>
            </a:r>
            <a:endParaRPr lang="en-US" sz="1200" dirty="0"/>
          </a:p>
        </p:txBody>
      </p:sp>
      <p:sp>
        <p:nvSpPr>
          <p:cNvPr id="63" name="Shape 44"/>
          <p:cNvSpPr/>
          <p:nvPr/>
        </p:nvSpPr>
        <p:spPr>
          <a:xfrm>
            <a:off x="822960" y="5074920"/>
            <a:ext cx="10545775" cy="1234440"/>
          </a:xfrm>
          <a:prstGeom prst="roundRect">
            <a:avLst>
              <a:gd name="adj" fmla="val 5926"/>
            </a:avLst>
          </a:prstGeom>
          <a:solidFill>
            <a:srgbClr val="121C2E"/>
          </a:solidFill>
          <a:ln/>
        </p:spPr>
      </p:sp>
      <p:sp>
        <p:nvSpPr>
          <p:cNvPr id="64" name="Text 45"/>
          <p:cNvSpPr/>
          <p:nvPr/>
        </p:nvSpPr>
        <p:spPr>
          <a:xfrm>
            <a:off x="1097280" y="5285232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+ SHAP + RAG → Evidence-Based AI Report</a:t>
            </a:r>
            <a:endParaRPr lang="en-US" sz="2000" dirty="0"/>
          </a:p>
        </p:txBody>
      </p:sp>
      <p:sp>
        <p:nvSpPr>
          <p:cNvPr id="65" name="Text 46"/>
          <p:cNvSpPr/>
          <p:nvPr/>
        </p:nvSpPr>
        <p:spPr>
          <a:xfrm>
            <a:off x="1097280" y="5742432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report is grounded in the model’s own evidence — never fabricated indicators or invented mitigations.</a:t>
            </a:r>
            <a:endParaRPr lang="en-US" sz="1250" dirty="0"/>
          </a:p>
        </p:txBody>
      </p:sp>
      <p:sp>
        <p:nvSpPr>
          <p:cNvPr id="66" name="Text 4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Attack Classification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21C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CIC-IDS2017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988820" y="2697480"/>
            <a:ext cx="0" cy="274320"/>
          </a:xfrm>
          <a:prstGeom prst="line">
            <a:avLst/>
          </a:prstGeom>
          <a:noFill/>
          <a:ln w="25400">
            <a:solidFill>
              <a:srgbClr val="2433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971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21C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71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988820" y="3749040"/>
            <a:ext cx="0" cy="274320"/>
          </a:xfrm>
          <a:prstGeom prst="line">
            <a:avLst/>
          </a:prstGeom>
          <a:noFill/>
          <a:ln w="25400">
            <a:solidFill>
              <a:srgbClr val="2433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0233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5263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23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988820" y="4800600"/>
            <a:ext cx="0" cy="274320"/>
          </a:xfrm>
          <a:prstGeom prst="line">
            <a:avLst/>
          </a:prstGeom>
          <a:noFill/>
          <a:ln w="25400">
            <a:solidFill>
              <a:srgbClr val="2433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07492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21C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0749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11880" y="19202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21C2E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99.16%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611880" y="2761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9202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21C2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82.45%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172200" y="2761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32520" y="19202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21C2E"/>
          </a:solidFill>
          <a:ln/>
        </p:spPr>
      </p:sp>
      <p:sp>
        <p:nvSpPr>
          <p:cNvPr id="22" name="Text 20"/>
          <p:cNvSpPr/>
          <p:nvPr/>
        </p:nvSpPr>
        <p:spPr>
          <a:xfrm>
            <a:off x="873252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732520" y="2761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11880" y="3383280"/>
            <a:ext cx="7772400" cy="2606040"/>
          </a:xfrm>
          <a:prstGeom prst="roundRect">
            <a:avLst>
              <a:gd name="adj" fmla="val 2807"/>
            </a:avLst>
          </a:prstGeom>
          <a:solidFill>
            <a:srgbClr val="121C2E"/>
          </a:solidFill>
          <a:ln/>
        </p:spPr>
      </p:sp>
      <p:sp>
        <p:nvSpPr>
          <p:cNvPr id="25" name="Text 23"/>
          <p:cNvSpPr/>
          <p:nvPr/>
        </p:nvSpPr>
        <p:spPr>
          <a:xfrm>
            <a:off x="38862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Configuration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86200" y="3977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 30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selected network-flow features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181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Classes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818120" y="3977640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17233A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3977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482328" y="3977640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17233A"/>
          </a:solidFill>
          <a:ln/>
        </p:spPr>
      </p:sp>
      <p:sp>
        <p:nvSpPr>
          <p:cNvPr id="31" name="Text 29"/>
          <p:cNvSpPr/>
          <p:nvPr/>
        </p:nvSpPr>
        <p:spPr>
          <a:xfrm>
            <a:off x="9482328" y="3977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818120" y="4453128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17233A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44531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82328" y="4453128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17233A"/>
          </a:solidFill>
          <a:ln/>
        </p:spPr>
      </p:sp>
      <p:sp>
        <p:nvSpPr>
          <p:cNvPr id="35" name="Text 33"/>
          <p:cNvSpPr/>
          <p:nvPr/>
        </p:nvSpPr>
        <p:spPr>
          <a:xfrm>
            <a:off x="9482328" y="44531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18120" y="4928616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17233A"/>
          </a:solidFill>
          <a:ln/>
        </p:spPr>
      </p:sp>
      <p:sp>
        <p:nvSpPr>
          <p:cNvPr id="37" name="Text 35"/>
          <p:cNvSpPr/>
          <p:nvPr/>
        </p:nvSpPr>
        <p:spPr>
          <a:xfrm>
            <a:off x="7818120" y="492861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482328" y="4928616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17233A"/>
          </a:solidFill>
          <a:ln/>
        </p:spPr>
      </p:sp>
      <p:sp>
        <p:nvSpPr>
          <p:cNvPr id="39" name="Text 37"/>
          <p:cNvSpPr/>
          <p:nvPr/>
        </p:nvSpPr>
        <p:spPr>
          <a:xfrm>
            <a:off x="9482328" y="492861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818120" y="5404104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17233A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540410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Attack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482328" y="5404104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17233A"/>
          </a:solidFill>
          <a:ln/>
        </p:spPr>
      </p:sp>
      <p:sp>
        <p:nvSpPr>
          <p:cNvPr id="43" name="Text 41"/>
          <p:cNvSpPr/>
          <p:nvPr/>
        </p:nvSpPr>
        <p:spPr>
          <a:xfrm>
            <a:off x="9482328" y="540410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Attack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+ Threat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121C2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6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5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391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Explainability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27889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network features influenced the prediction.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3291840"/>
            <a:ext cx="16623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851099" y="3291840"/>
            <a:ext cx="11082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59352" y="3291840"/>
            <a:ext cx="831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90542" y="3291840"/>
            <a:ext cx="1015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188720" y="3639312"/>
            <a:ext cx="4617720" cy="0"/>
          </a:xfrm>
          <a:prstGeom prst="line">
            <a:avLst/>
          </a:prstGeom>
          <a:noFill/>
          <a:ln w="12700">
            <a:solidFill>
              <a:srgbClr val="2433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3749040"/>
            <a:ext cx="1662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Bytes/s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851099" y="3749040"/>
            <a:ext cx="1108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184,200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959352" y="3749040"/>
            <a:ext cx="831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90542" y="3749040"/>
            <a:ext cx="101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88720" y="4160520"/>
            <a:ext cx="1662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 Pkt Len Std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851099" y="4160520"/>
            <a:ext cx="1108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959352" y="4160520"/>
            <a:ext cx="831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+0.27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90542" y="4160520"/>
            <a:ext cx="101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88720" y="4572000"/>
            <a:ext cx="1662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Mean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851099" y="4572000"/>
            <a:ext cx="1108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ms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959352" y="4572000"/>
            <a:ext cx="831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-0.15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90542" y="4572000"/>
            <a:ext cx="101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188720" y="5029200"/>
            <a:ext cx="4617720" cy="914400"/>
          </a:xfrm>
          <a:prstGeom prst="roundRect">
            <a:avLst>
              <a:gd name="adj" fmla="val 6000"/>
            </a:avLst>
          </a:prstGeom>
          <a:solidFill>
            <a:srgbClr val="17233A"/>
          </a:solidFill>
          <a:ln/>
        </p:spPr>
      </p:sp>
      <p:sp>
        <p:nvSpPr>
          <p:cNvPr id="27" name="Text 24"/>
          <p:cNvSpPr/>
          <p:nvPr/>
        </p:nvSpPr>
        <p:spPr>
          <a:xfrm>
            <a:off x="1417320" y="50292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model influence — not proof that an attack occurred.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46520" y="1783080"/>
            <a:ext cx="4937760" cy="4434840"/>
          </a:xfrm>
          <a:prstGeom prst="roundRect">
            <a:avLst>
              <a:gd name="adj" fmla="val 1649"/>
            </a:avLst>
          </a:prstGeom>
          <a:solidFill>
            <a:srgbClr val="121C2E"/>
          </a:solidFill>
          <a:ln/>
        </p:spPr>
      </p:sp>
      <p:sp>
        <p:nvSpPr>
          <p:cNvPr id="29" name="Shape 26"/>
          <p:cNvSpPr/>
          <p:nvPr/>
        </p:nvSpPr>
        <p:spPr>
          <a:xfrm>
            <a:off x="6629400" y="1965960"/>
            <a:ext cx="640080" cy="64008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30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019" y="2119579"/>
            <a:ext cx="332842" cy="33284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406640" y="2039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RAG Threat Intel</a:t>
            </a:r>
            <a:endParaRPr lang="en-US" sz="1700" dirty="0"/>
          </a:p>
        </p:txBody>
      </p:sp>
      <p:sp>
        <p:nvSpPr>
          <p:cNvPr id="32" name="Text 28"/>
          <p:cNvSpPr/>
          <p:nvPr/>
        </p:nvSpPr>
        <p:spPr>
          <a:xfrm>
            <a:off x="6812280" y="2788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BAAI/bge-small-en-v1.5 embeddings retrieve attack-specific knowledge.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812280" y="333756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17233A"/>
          </a:solidFill>
          <a:ln/>
        </p:spPr>
      </p:sp>
      <p:sp>
        <p:nvSpPr>
          <p:cNvPr id="34" name="Text 30"/>
          <p:cNvSpPr/>
          <p:nvPr/>
        </p:nvSpPr>
        <p:spPr>
          <a:xfrm>
            <a:off x="6995160" y="3337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Prediction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8915400" y="3931920"/>
            <a:ext cx="0" cy="274320"/>
          </a:xfrm>
          <a:prstGeom prst="line">
            <a:avLst/>
          </a:prstGeom>
          <a:noFill/>
          <a:ln w="25400">
            <a:solidFill>
              <a:srgbClr val="24334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812280" y="420624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17233A"/>
          </a:solidFill>
          <a:ln/>
        </p:spPr>
      </p:sp>
      <p:sp>
        <p:nvSpPr>
          <p:cNvPr id="37" name="Text 33"/>
          <p:cNvSpPr/>
          <p:nvPr/>
        </p:nvSpPr>
        <p:spPr>
          <a:xfrm>
            <a:off x="6995160" y="4206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Retrieval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8915400" y="4800600"/>
            <a:ext cx="0" cy="274320"/>
          </a:xfrm>
          <a:prstGeom prst="line">
            <a:avLst/>
          </a:prstGeom>
          <a:noFill/>
          <a:ln w="25400">
            <a:solidFill>
              <a:srgbClr val="243349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812280" y="507492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17233A"/>
          </a:solidFill>
          <a:ln/>
        </p:spPr>
      </p:sp>
      <p:sp>
        <p:nvSpPr>
          <p:cNvPr id="40" name="Text 36"/>
          <p:cNvSpPr/>
          <p:nvPr/>
        </p:nvSpPr>
        <p:spPr>
          <a:xfrm>
            <a:off x="6995160" y="5074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Threat Intel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SOC Incident Reports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fuses model evidence into a single, analyst-ready report.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21C2E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2670048"/>
            <a:ext cx="640080" cy="64008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7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67" y="2823667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6791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9728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 + confidence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11880" y="2423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21C2E"/>
          </a:solidFill>
          <a:ln/>
        </p:spPr>
      </p:sp>
      <p:sp>
        <p:nvSpPr>
          <p:cNvPr id="11" name="Shape 8"/>
          <p:cNvSpPr/>
          <p:nvPr/>
        </p:nvSpPr>
        <p:spPr>
          <a:xfrm>
            <a:off x="3858768" y="2670048"/>
            <a:ext cx="640080" cy="64008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12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2387" y="2823667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6791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88620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contributing features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0" y="24231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21C2E"/>
          </a:solidFill>
          <a:ln/>
        </p:spPr>
      </p:sp>
      <p:sp>
        <p:nvSpPr>
          <p:cNvPr id="16" name="Shape 12"/>
          <p:cNvSpPr/>
          <p:nvPr/>
        </p:nvSpPr>
        <p:spPr>
          <a:xfrm>
            <a:off x="6647688" y="2670048"/>
            <a:ext cx="640080" cy="64008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17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307" y="2823667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52360" y="26791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67512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threat intel</a:t>
            </a:r>
            <a:endParaRPr lang="en-US" sz="1050" dirty="0"/>
          </a:p>
        </p:txBody>
      </p:sp>
      <p:pic>
        <p:nvPicPr>
          <p:cNvPr id="20" name="Image 3" descr="icons/arrow_r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742432" y="3913632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566160" y="42519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5263A"/>
          </a:solidFill>
          <a:ln/>
        </p:spPr>
      </p:sp>
      <p:sp>
        <p:nvSpPr>
          <p:cNvPr id="22" name="Shape 16"/>
          <p:cNvSpPr/>
          <p:nvPr/>
        </p:nvSpPr>
        <p:spPr>
          <a:xfrm>
            <a:off x="3877056" y="4402836"/>
            <a:ext cx="566928" cy="566928"/>
          </a:xfrm>
          <a:prstGeom prst="ellipse">
            <a:avLst/>
          </a:prstGeom>
          <a:solidFill>
            <a:srgbClr val="1C3350"/>
          </a:solidFill>
          <a:ln/>
        </p:spPr>
      </p:sp>
      <p:pic>
        <p:nvPicPr>
          <p:cNvPr id="23" name="Image 4" descr="icons/mes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4615" y="4530395"/>
            <a:ext cx="311810" cy="3118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17720" y="42519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LLM — Synthesizes the Evidence</a:t>
            </a:r>
            <a:endParaRPr lang="en-US" sz="1500" dirty="0"/>
          </a:p>
        </p:txBody>
      </p:sp>
      <p:pic>
        <p:nvPicPr>
          <p:cNvPr id="25" name="Image 5" descr="icons/arrow_r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742432" y="5193792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3566160" y="553212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21C2E"/>
          </a:solidFill>
          <a:ln/>
        </p:spPr>
      </p:sp>
      <p:sp>
        <p:nvSpPr>
          <p:cNvPr id="27" name="Shape 19"/>
          <p:cNvSpPr/>
          <p:nvPr/>
        </p:nvSpPr>
        <p:spPr>
          <a:xfrm>
            <a:off x="3904488" y="5664708"/>
            <a:ext cx="512064" cy="512064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28" name="Image 6" descr="icons/file_tex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9702" y="5779922"/>
            <a:ext cx="281635" cy="28163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617720" y="55321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SOC Incident Report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9052560" y="2423160"/>
            <a:ext cx="2331720" cy="3886200"/>
          </a:xfrm>
          <a:prstGeom prst="roundRect">
            <a:avLst>
              <a:gd name="adj" fmla="val 3137"/>
            </a:avLst>
          </a:prstGeom>
          <a:solidFill>
            <a:srgbClr val="17233A"/>
          </a:solidFill>
          <a:ln/>
        </p:spPr>
      </p:sp>
      <p:sp>
        <p:nvSpPr>
          <p:cNvPr id="31" name="Text 22"/>
          <p:cNvSpPr/>
          <p:nvPr/>
        </p:nvSpPr>
        <p:spPr>
          <a:xfrm>
            <a:off x="9281160" y="2423160"/>
            <a:ext cx="1874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IoCs. No invented mitigations. Confidence is never treated as proof.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21C2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17233A"/>
          </a:solidFill>
          <a:ln/>
        </p:spPr>
      </p:sp>
      <p:pic>
        <p:nvPicPr>
          <p:cNvPr id="6" name="Image 0" descr="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5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39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SOC Workbench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3000" y="2697480"/>
            <a:ext cx="4480560" cy="731520"/>
          </a:xfrm>
          <a:prstGeom prst="roundRect">
            <a:avLst>
              <a:gd name="adj" fmla="val 6250"/>
            </a:avLst>
          </a:prstGeom>
          <a:solidFill>
            <a:srgbClr val="15263A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2761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25880" y="30083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→ Explainability → Retrieved Knowledge → AI Report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143000" y="3547872"/>
            <a:ext cx="4480560" cy="548640"/>
          </a:xfrm>
          <a:prstGeom prst="roundRect">
            <a:avLst>
              <a:gd name="adj" fmla="val 8333"/>
            </a:avLst>
          </a:prstGeom>
          <a:solidFill>
            <a:srgbClr val="17233A"/>
          </a:solidFill>
          <a:ln/>
        </p:spPr>
      </p:sp>
      <p:sp>
        <p:nvSpPr>
          <p:cNvPr id="12" name="Text 9"/>
          <p:cNvSpPr/>
          <p:nvPr/>
        </p:nvSpPr>
        <p:spPr>
          <a:xfrm>
            <a:off x="1325880" y="3611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Performance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25880" y="3858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evaluation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43000" y="4215384"/>
            <a:ext cx="4480560" cy="548640"/>
          </a:xfrm>
          <a:prstGeom prst="roundRect">
            <a:avLst>
              <a:gd name="adj" fmla="val 8333"/>
            </a:avLst>
          </a:prstGeom>
          <a:solidFill>
            <a:srgbClr val="17233A"/>
          </a:solidFill>
          <a:ln/>
        </p:spPr>
      </p:sp>
      <p:sp>
        <p:nvSpPr>
          <p:cNvPr id="15" name="Text 12"/>
          <p:cNvSpPr/>
          <p:nvPr/>
        </p:nvSpPr>
        <p:spPr>
          <a:xfrm>
            <a:off x="1325880" y="4279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Analytics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325880" y="45262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detection insight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143000" y="4882896"/>
            <a:ext cx="4480560" cy="548640"/>
          </a:xfrm>
          <a:prstGeom prst="roundRect">
            <a:avLst>
              <a:gd name="adj" fmla="val 8333"/>
            </a:avLst>
          </a:prstGeom>
          <a:solidFill>
            <a:srgbClr val="17233A"/>
          </a:solidFill>
          <a:ln/>
        </p:spPr>
      </p:sp>
      <p:sp>
        <p:nvSpPr>
          <p:cNvPr id="18" name="Text 15"/>
          <p:cNvSpPr/>
          <p:nvPr/>
        </p:nvSpPr>
        <p:spPr>
          <a:xfrm>
            <a:off x="1325880" y="4946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History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325880" y="5193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incident reports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143000" y="5550408"/>
            <a:ext cx="4480560" cy="548640"/>
          </a:xfrm>
          <a:prstGeom prst="roundRect">
            <a:avLst>
              <a:gd name="adj" fmla="val 8333"/>
            </a:avLst>
          </a:prstGeom>
          <a:solidFill>
            <a:srgbClr val="17233A"/>
          </a:solidFill>
          <a:ln/>
        </p:spPr>
      </p:sp>
      <p:sp>
        <p:nvSpPr>
          <p:cNvPr id="21" name="Text 18"/>
          <p:cNvSpPr/>
          <p:nvPr/>
        </p:nvSpPr>
        <p:spPr>
          <a:xfrm>
            <a:off x="1325880" y="5614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About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325880" y="58613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and pipeline overview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63640" y="178308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21C2E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2039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Topology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83680" y="2651760"/>
            <a:ext cx="4480560" cy="713232"/>
          </a:xfrm>
          <a:prstGeom prst="roundRect">
            <a:avLst>
              <a:gd name="adj" fmla="val 6410"/>
            </a:avLst>
          </a:prstGeom>
          <a:solidFill>
            <a:srgbClr val="17233A"/>
          </a:solidFill>
          <a:ln/>
        </p:spPr>
      </p:sp>
      <p:sp>
        <p:nvSpPr>
          <p:cNvPr id="26" name="Shape 23"/>
          <p:cNvSpPr/>
          <p:nvPr/>
        </p:nvSpPr>
        <p:spPr>
          <a:xfrm>
            <a:off x="6812280" y="2779776"/>
            <a:ext cx="457200" cy="457200"/>
          </a:xfrm>
          <a:prstGeom prst="ellipse">
            <a:avLst/>
          </a:prstGeom>
          <a:solidFill>
            <a:srgbClr val="15263A"/>
          </a:solidFill>
          <a:ln/>
        </p:spPr>
      </p:sp>
      <p:pic>
        <p:nvPicPr>
          <p:cNvPr id="27" name="Image 1" descr="icons/git_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150" y="2882646"/>
            <a:ext cx="251460" cy="2514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406640" y="27066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40664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583680" y="3529584"/>
            <a:ext cx="4480560" cy="713232"/>
          </a:xfrm>
          <a:prstGeom prst="roundRect">
            <a:avLst>
              <a:gd name="adj" fmla="val 6410"/>
            </a:avLst>
          </a:prstGeom>
          <a:solidFill>
            <a:srgbClr val="17233A"/>
          </a:solidFill>
          <a:ln/>
        </p:spPr>
      </p:sp>
      <p:sp>
        <p:nvSpPr>
          <p:cNvPr id="31" name="Shape 27"/>
          <p:cNvSpPr/>
          <p:nvPr/>
        </p:nvSpPr>
        <p:spPr>
          <a:xfrm>
            <a:off x="6812280" y="3657600"/>
            <a:ext cx="457200" cy="457200"/>
          </a:xfrm>
          <a:prstGeom prst="ellipse">
            <a:avLst/>
          </a:prstGeom>
          <a:solidFill>
            <a:srgbClr val="15263A"/>
          </a:solidFill>
          <a:ln/>
        </p:spPr>
      </p:sp>
      <p:pic>
        <p:nvPicPr>
          <p:cNvPr id="32" name="Image 2" descr="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150" y="3760470"/>
            <a:ext cx="251460" cy="2514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406640" y="3584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7406640" y="3877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ML / RAG Artifacts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583680" y="4407408"/>
            <a:ext cx="4480560" cy="713232"/>
          </a:xfrm>
          <a:prstGeom prst="roundRect">
            <a:avLst>
              <a:gd name="adj" fmla="val 6410"/>
            </a:avLst>
          </a:prstGeom>
          <a:solidFill>
            <a:srgbClr val="17233A"/>
          </a:solidFill>
          <a:ln/>
        </p:spPr>
      </p:sp>
      <p:sp>
        <p:nvSpPr>
          <p:cNvPr id="36" name="Shape 31"/>
          <p:cNvSpPr/>
          <p:nvPr/>
        </p:nvSpPr>
        <p:spPr>
          <a:xfrm>
            <a:off x="6812280" y="4535424"/>
            <a:ext cx="457200" cy="457200"/>
          </a:xfrm>
          <a:prstGeom prst="ellipse">
            <a:avLst/>
          </a:prstGeom>
          <a:solidFill>
            <a:srgbClr val="15263A"/>
          </a:solidFill>
          <a:ln/>
        </p:spPr>
      </p:sp>
      <p:pic>
        <p:nvPicPr>
          <p:cNvPr id="37" name="Image 3" descr="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4638294"/>
            <a:ext cx="251460" cy="2514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406640" y="44622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7406640" y="4754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Dashboard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583680" y="5285232"/>
            <a:ext cx="4480560" cy="713232"/>
          </a:xfrm>
          <a:prstGeom prst="roundRect">
            <a:avLst>
              <a:gd name="adj" fmla="val 6410"/>
            </a:avLst>
          </a:prstGeom>
          <a:solidFill>
            <a:srgbClr val="17233A"/>
          </a:solidFill>
          <a:ln/>
        </p:spPr>
      </p:sp>
      <p:sp>
        <p:nvSpPr>
          <p:cNvPr id="41" name="Shape 35"/>
          <p:cNvSpPr/>
          <p:nvPr/>
        </p:nvSpPr>
        <p:spPr>
          <a:xfrm>
            <a:off x="6812280" y="5413248"/>
            <a:ext cx="457200" cy="457200"/>
          </a:xfrm>
          <a:prstGeom prst="ellipse">
            <a:avLst/>
          </a:prstGeom>
          <a:solidFill>
            <a:srgbClr val="15263A"/>
          </a:solidFill>
          <a:ln/>
        </p:spPr>
      </p:sp>
      <p:pic>
        <p:nvPicPr>
          <p:cNvPr id="42" name="Image 4" descr="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150" y="5516118"/>
            <a:ext cx="251460" cy="25146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406640" y="53400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7406640" y="56327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Generation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32038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Detection — Toward Assisted Response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Intelligent-NIDS doesn’t just detect attacks. It explains them, retrieves security context, and assists SOC analysts with incident reporting — end to end.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C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906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99.16%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926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C2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906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82.45%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3840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926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0906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3840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9260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C2E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30906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52560" y="3840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7091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7233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4420" y="4914900"/>
            <a:ext cx="594360" cy="594360"/>
          </a:xfrm>
          <a:prstGeom prst="ellipse">
            <a:avLst/>
          </a:prstGeom>
          <a:solidFill>
            <a:srgbClr val="15263A"/>
          </a:solidFill>
          <a:ln/>
        </p:spPr>
      </p:sp>
      <p:pic>
        <p:nvPicPr>
          <p:cNvPr id="20" name="Image 0" descr="icons/check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51" y="5048631"/>
            <a:ext cx="326898" cy="32689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82880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097280" y="5605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classification, 8 attack classes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480560" y="47091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7233A"/>
          </a:solidFill>
          <a:ln/>
        </p:spPr>
      </p:sp>
      <p:sp>
        <p:nvSpPr>
          <p:cNvPr id="24" name="Shape 21"/>
          <p:cNvSpPr/>
          <p:nvPr/>
        </p:nvSpPr>
        <p:spPr>
          <a:xfrm>
            <a:off x="4732020" y="4914900"/>
            <a:ext cx="594360" cy="594360"/>
          </a:xfrm>
          <a:prstGeom prst="ellipse">
            <a:avLst/>
          </a:prstGeom>
          <a:solidFill>
            <a:srgbClr val="15263A"/>
          </a:solidFill>
          <a:ln/>
        </p:spPr>
      </p:sp>
      <p:pic>
        <p:nvPicPr>
          <p:cNvPr id="25" name="Image 1" descr="icons/check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751" y="5048631"/>
            <a:ext cx="326898" cy="32689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48640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4754880" y="5605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what drove each decision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138160" y="47091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7233A"/>
          </a:solidFill>
          <a:ln/>
        </p:spPr>
      </p:sp>
      <p:sp>
        <p:nvSpPr>
          <p:cNvPr id="29" name="Shape 25"/>
          <p:cNvSpPr/>
          <p:nvPr/>
        </p:nvSpPr>
        <p:spPr>
          <a:xfrm>
            <a:off x="8389620" y="4914900"/>
            <a:ext cx="594360" cy="594360"/>
          </a:xfrm>
          <a:prstGeom prst="ellipse">
            <a:avLst/>
          </a:prstGeom>
          <a:solidFill>
            <a:srgbClr val="15263A"/>
          </a:solidFill>
          <a:ln/>
        </p:spPr>
      </p:sp>
      <p:pic>
        <p:nvPicPr>
          <p:cNvPr id="30" name="Image 2" descr="icons/check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351" y="5048631"/>
            <a:ext cx="326898" cy="32689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14400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8412480" y="5605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Gemini generate SOC-ready reports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593</Words>
  <Application>Microsoft Office PowerPoint</Application>
  <PresentationFormat>Widescreen</PresentationFormat>
  <Paragraphs>175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Kareem Okeil</cp:lastModifiedBy>
  <cp:revision>2</cp:revision>
  <dcterms:created xsi:type="dcterms:W3CDTF">2026-08-09T08:06:51Z</dcterms:created>
  <dcterms:modified xsi:type="dcterms:W3CDTF">2026-08-09T08:19:12Z</dcterms:modified>
</cp:coreProperties>
</file>